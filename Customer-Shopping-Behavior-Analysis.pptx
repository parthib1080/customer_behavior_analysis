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Roboto Slab"/>
      <p:regular r:id="rId17"/>
    </p:embeddedFont>
    <p:embeddedFont>
      <p:font typeface="Roboto Slab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3,900 transactions · 18 features · Python · SQL · Power BI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87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at a Glance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24482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5562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Purchases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56884" y="2524482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18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9229130" y="35562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477583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37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2565916" y="55093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Missing Ratings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5999798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Rating column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456884" y="4477583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$59.76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9229130" y="55093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Avg Purchase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66178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Demographics, purchase details, and shopping behavior across 50 locations.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025" y="779978"/>
            <a:ext cx="7047071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Preparation in Python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69025" y="1785818"/>
            <a:ext cx="7605951" cy="1256348"/>
          </a:xfrm>
          <a:prstGeom prst="roundRect">
            <a:avLst>
              <a:gd name="adj" fmla="val 2624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988695" y="2005489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Clean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88695" y="2476381"/>
            <a:ext cx="716661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Imputed missing Review Ratings by category median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69025" y="3254931"/>
            <a:ext cx="7605951" cy="1256348"/>
          </a:xfrm>
          <a:prstGeom prst="roundRect">
            <a:avLst>
              <a:gd name="adj" fmla="val 2624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988695" y="3474601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Standardize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988695" y="3945493"/>
            <a:ext cx="716661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Renamed columns to snake_case; dropped redundant promo_code_used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69025" y="4724043"/>
            <a:ext cx="7605951" cy="1256348"/>
          </a:xfrm>
          <a:prstGeom prst="roundRect">
            <a:avLst>
              <a:gd name="adj" fmla="val 2624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988695" y="4943713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Engineer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988695" y="5414605"/>
            <a:ext cx="716661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age_group and purchase_frequency_days features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69025" y="6193155"/>
            <a:ext cx="7605951" cy="1256348"/>
          </a:xfrm>
          <a:prstGeom prst="roundRect">
            <a:avLst>
              <a:gd name="adj" fmla="val 2624"/>
            </a:avLst>
          </a:prstGeom>
          <a:solidFill>
            <a:srgbClr val="E9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988695" y="6412825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Load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988695" y="6883718"/>
            <a:ext cx="716661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Connected to PostgreSQL for SQL analysis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by Gender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90718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862382"/>
            <a:ext cx="41496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Male Customers Drive Revenue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344352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generated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$157,890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more than double female revenue of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$75,191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599521" y="4424482"/>
            <a:ext cx="6244709" cy="963811"/>
          </a:xfrm>
          <a:prstGeom prst="roundRect">
            <a:avLst>
              <a:gd name="adj" fmla="val 3530"/>
            </a:avLst>
          </a:prstGeom>
          <a:solidFill>
            <a:srgbClr val="C3CFE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35" y="4768572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36637" y="4707969"/>
            <a:ext cx="52807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2,652 male vs. female customers in dataset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86367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Subscribers vs. Non-Subscribers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90718"/>
            <a:ext cx="693777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130" y="2927271"/>
            <a:ext cx="91440" cy="91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9050" y="2913578"/>
            <a:ext cx="446961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15213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Customers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1548527" y="2890718"/>
            <a:ext cx="860346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867" y="2927271"/>
            <a:ext cx="91440" cy="91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05570" y="2913578"/>
            <a:ext cx="611743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15213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Revenue (USD)</a:t>
            </a:r>
            <a:endParaRPr lang="en-US" sz="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31463"/>
            <a:ext cx="6244709" cy="3457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99521" y="2862382"/>
            <a:ext cx="36015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Non-Subscribers Dominate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599521" y="344352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73% of customers are non-subscribers, generating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$170K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revenue.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599521" y="4373404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spend nearly identical: $59.49 vs $59.87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958 repeat buyers are subscribers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64427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90718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862382"/>
            <a:ext cx="30415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Loyal Customers = 80%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34435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3,116 loyal customers form the core base. Only 83 are new.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599521" y="4061579"/>
            <a:ext cx="6244709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35" y="4405670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36637" y="4345067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Segmented by purchase history: New, Returning, Loyal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6114"/>
            <a:ext cx="85365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Products &amp; Discount Trends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1869"/>
            <a:ext cx="31321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Highest Rated Products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81350"/>
            <a:ext cx="6244709" cy="36934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9521" y="2571869"/>
            <a:ext cx="34963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Most Discounted Products</a:t>
            </a:r>
            <a:endParaRPr lang="en-US" sz="2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3181350"/>
            <a:ext cx="6244709" cy="36934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59721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by Age Group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90718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862382"/>
            <a:ext cx="38641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Young Adults Lead Spending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344352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Young Adults contribute the highest revenue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$62,143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Revenue is relatively balanced across all age groups.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460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94992"/>
            <a:ext cx="3664744" cy="1730812"/>
          </a:xfrm>
          <a:prstGeom prst="roundRect">
            <a:avLst>
              <a:gd name="adj" fmla="val 196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084" y="30522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KPIs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51084" y="3542705"/>
            <a:ext cx="31501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3.9K customers · $59.76 avg purchase · 3.75 avg rating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794992"/>
            <a:ext cx="3664863" cy="1730812"/>
          </a:xfrm>
          <a:prstGeom prst="roundRect">
            <a:avLst>
              <a:gd name="adj" fmla="val 196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42642" y="30522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Filters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42642" y="3542705"/>
            <a:ext cx="31502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· Gender · Category · Shipping Type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752618"/>
            <a:ext cx="7556421" cy="1730812"/>
          </a:xfrm>
          <a:prstGeom prst="roundRect">
            <a:avLst>
              <a:gd name="adj" fmla="val 196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084" y="50099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51084" y="5500330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by category &amp; age group · Subscription donut · Sales breakdown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0499"/>
            <a:ext cx="75960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Recommendations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25290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74332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exclusive subscriber benefits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25290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374332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repeat buyers to grow Loyal segment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252907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Review Discounts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374332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sales boosts with margin control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4253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644253" y="5413177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high-revenue age groups &amp; express-shipping users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4922758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86356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086356" y="5413177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 top-rated &amp; best-selling products in campaigns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2026-05-03T20:48:01Z</dcterms:created>
  <dcterms:modified xsi:type="dcterms:W3CDTF">2026-05-03T20:48:01Z</dcterms:modified>
</cp:coreProperties>
</file>